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73" r:id="rId4"/>
  </p:sldMasterIdLst>
  <p:notesMasterIdLst>
    <p:notesMasterId r:id="rId9"/>
  </p:notesMasterIdLst>
  <p:handoutMasterIdLst>
    <p:handoutMasterId r:id="rId10"/>
  </p:handoutMasterIdLst>
  <p:sldIdLst>
    <p:sldId id="2147483464" r:id="rId5"/>
    <p:sldId id="2147483466" r:id="rId6"/>
    <p:sldId id="2147483481" r:id="rId7"/>
    <p:sldId id="2147483482" r:id="rId8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I Master Prjoect" id="{0958F2E3-C982-49D6-9582-5DC643DA4EAC}">
          <p14:sldIdLst>
            <p14:sldId id="2147483464"/>
            <p14:sldId id="2147483466"/>
            <p14:sldId id="2147483481"/>
            <p14:sldId id="21474834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634" userDrawn="1">
          <p15:clr>
            <a:srgbClr val="A4A3A4"/>
          </p15:clr>
        </p15:guide>
        <p15:guide id="3" pos="2054" userDrawn="1">
          <p15:clr>
            <a:srgbClr val="A4A3A4"/>
          </p15:clr>
        </p15:guide>
        <p15:guide id="5" orient="horz" pos="2908" userDrawn="1">
          <p15:clr>
            <a:srgbClr val="A4A3A4"/>
          </p15:clr>
        </p15:guide>
        <p15:guide id="7" pos="194" userDrawn="1">
          <p15:clr>
            <a:srgbClr val="A4A3A4"/>
          </p15:clr>
        </p15:guide>
        <p15:guide id="10" pos="6023" userDrawn="1">
          <p15:clr>
            <a:srgbClr val="A4A3A4"/>
          </p15:clr>
        </p15:guide>
        <p15:guide id="11" orient="horz" pos="30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F86CCC-2792-BAA6-210B-A791D0315202}" name="박일두(PARK Ildoo)/AI혁신팀/SK" initials="박I" userId="S::07457@skcc.com::8af7783d-7a0a-474c-adf3-b68b78300c8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AC"/>
    <a:srgbClr val="376092"/>
    <a:srgbClr val="DBEEF4"/>
    <a:srgbClr val="DEEBF7"/>
    <a:srgbClr val="EAEAEA"/>
    <a:srgbClr val="E6E0EC"/>
    <a:srgbClr val="EBF1DE"/>
    <a:srgbClr val="F2DCDB"/>
    <a:srgbClr val="C6D9F1"/>
    <a:srgbClr val="EC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30" autoAdjust="0"/>
    <p:restoredTop sz="61899" autoAdjust="0"/>
  </p:normalViewPr>
  <p:slideViewPr>
    <p:cSldViewPr snapToGrid="0">
      <p:cViewPr varScale="1">
        <p:scale>
          <a:sx n="115" d="100"/>
          <a:sy n="115" d="100"/>
        </p:scale>
        <p:origin x="3312" y="56"/>
      </p:cViewPr>
      <p:guideLst>
        <p:guide orient="horz" pos="3634"/>
        <p:guide pos="2054"/>
        <p:guide orient="horz" pos="2908"/>
        <p:guide pos="194"/>
        <p:guide pos="6023"/>
        <p:guide orient="horz" pos="306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0" d="100"/>
        <a:sy n="180" d="100"/>
      </p:scale>
      <p:origin x="0" y="-4266"/>
    </p:cViewPr>
  </p:sorterViewPr>
  <p:notesViewPr>
    <p:cSldViewPr snapToGrid="0">
      <p:cViewPr>
        <p:scale>
          <a:sx n="1" d="2"/>
          <a:sy n="1" d="2"/>
        </p:scale>
        <p:origin x="4560" y="5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C602442-AB80-3910-84ED-69DB1A9DB2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3"/>
            <a:ext cx="2946135" cy="497838"/>
          </a:xfrm>
          <a:prstGeom prst="rect">
            <a:avLst/>
          </a:prstGeom>
        </p:spPr>
        <p:txBody>
          <a:bodyPr vert="horz" lIns="91300" tIns="45651" rIns="91300" bIns="4565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00989A-ABD5-E7F4-662D-94A26298F9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957" y="3"/>
            <a:ext cx="2946135" cy="497838"/>
          </a:xfrm>
          <a:prstGeom prst="rect">
            <a:avLst/>
          </a:prstGeom>
        </p:spPr>
        <p:txBody>
          <a:bodyPr vert="horz" lIns="91300" tIns="45651" rIns="91300" bIns="45651" rtlCol="0"/>
          <a:lstStyle>
            <a:lvl1pPr algn="r">
              <a:defRPr sz="1200"/>
            </a:lvl1pPr>
          </a:lstStyle>
          <a:p>
            <a:fld id="{EDD96F98-DE7C-4ABF-99BD-AE199A899223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F91C77-03D5-7741-D963-1881C499A4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428801"/>
            <a:ext cx="2946135" cy="497838"/>
          </a:xfrm>
          <a:prstGeom prst="rect">
            <a:avLst/>
          </a:prstGeom>
        </p:spPr>
        <p:txBody>
          <a:bodyPr vert="horz" lIns="91300" tIns="45651" rIns="91300" bIns="4565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7E996C-FABD-D960-DAD0-A9D3F7E06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957" y="9428801"/>
            <a:ext cx="2946135" cy="497838"/>
          </a:xfrm>
          <a:prstGeom prst="rect">
            <a:avLst/>
          </a:prstGeom>
        </p:spPr>
        <p:txBody>
          <a:bodyPr vert="horz" lIns="91300" tIns="45651" rIns="91300" bIns="45651" rtlCol="0" anchor="b"/>
          <a:lstStyle>
            <a:lvl1pPr algn="r">
              <a:defRPr sz="1200"/>
            </a:lvl1pPr>
          </a:lstStyle>
          <a:p>
            <a:fld id="{8883A8E8-1F32-4034-9DB0-36628C4B5B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2881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2945659" cy="498056"/>
          </a:xfrm>
          <a:prstGeom prst="rect">
            <a:avLst/>
          </a:prstGeom>
        </p:spPr>
        <p:txBody>
          <a:bodyPr vert="horz" lIns="91300" tIns="45651" rIns="91300" bIns="4565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6" y="1"/>
            <a:ext cx="2945659" cy="498056"/>
          </a:xfrm>
          <a:prstGeom prst="rect">
            <a:avLst/>
          </a:prstGeom>
        </p:spPr>
        <p:txBody>
          <a:bodyPr vert="horz" lIns="91300" tIns="45651" rIns="91300" bIns="45651" rtlCol="0"/>
          <a:lstStyle>
            <a:lvl1pPr algn="r">
              <a:defRPr sz="1200"/>
            </a:lvl1pPr>
          </a:lstStyle>
          <a:p>
            <a:fld id="{9A492FC8-BDC2-46A9-B4FF-225879A4478C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00" tIns="45651" rIns="91300" bIns="45651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</p:spPr>
        <p:txBody>
          <a:bodyPr vert="horz" lIns="91300" tIns="45651" rIns="91300" bIns="45651" rtlCol="0"/>
          <a:lstStyle/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" y="9428584"/>
            <a:ext cx="2945659" cy="498055"/>
          </a:xfrm>
          <a:prstGeom prst="rect">
            <a:avLst/>
          </a:prstGeom>
        </p:spPr>
        <p:txBody>
          <a:bodyPr vert="horz" lIns="91300" tIns="45651" rIns="91300" bIns="4565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6" y="9428584"/>
            <a:ext cx="2945659" cy="498055"/>
          </a:xfrm>
          <a:prstGeom prst="rect">
            <a:avLst/>
          </a:prstGeom>
        </p:spPr>
        <p:txBody>
          <a:bodyPr vert="horz" lIns="91300" tIns="45651" rIns="91300" bIns="45651" rtlCol="0" anchor="b"/>
          <a:lstStyle>
            <a:lvl1pPr algn="r">
              <a:defRPr sz="1200"/>
            </a:lvl1pPr>
          </a:lstStyle>
          <a:p>
            <a:fld id="{A04762D5-0A33-44F8-A567-2CD652B73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244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55920">
              <a:defRPr/>
            </a:pPr>
            <a:fld id="{6981E185-7043-4F23-A2C2-D390BD81F588}" type="slidenum">
              <a:rPr lang="ko-KR" altLang="en-US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pPr defTabSz="455920">
                <a:defRPr/>
              </a:pPr>
              <a:t>0</a:t>
            </a:fld>
            <a:endParaRPr lang="ko-KR" altLang="en-US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7228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56606">
              <a:defRPr/>
            </a:pPr>
            <a:fld id="{A04762D5-0A33-44F8-A567-2CD652B73617}" type="slidenum">
              <a:rPr lang="ko-KR" altLang="en-US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pPr defTabSz="456606">
                <a:defRPr/>
              </a:pPr>
              <a:t>1</a:t>
            </a:fld>
            <a:endParaRPr lang="ko-KR" altLang="en-US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5067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5EB03-10A1-914E-4239-B7ABC4110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888EF9-A4D2-6ED1-07CD-B1FA1A930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BD9453-298D-A814-D814-8F5415FD8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49A3BC-3F51-B81D-0E23-F188E9DEA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56606">
              <a:defRPr/>
            </a:pPr>
            <a:fld id="{A04762D5-0A33-44F8-A567-2CD652B73617}" type="slidenum">
              <a:rPr lang="ko-KR" altLang="en-US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pPr defTabSz="456606">
                <a:defRPr/>
              </a:pPr>
              <a:t>2</a:t>
            </a:fld>
            <a:endParaRPr lang="ko-KR" altLang="en-US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3054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324099"/>
            <a:ext cx="8420100" cy="614363"/>
          </a:xfrm>
        </p:spPr>
        <p:txBody>
          <a:bodyPr anchor="ctr">
            <a:normAutofit/>
          </a:bodyPr>
          <a:lstStyle>
            <a:lvl1pPr algn="l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49" y="4421188"/>
            <a:ext cx="8420099" cy="614363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B15C4BB-2D1B-4EDD-9BFB-236471563A67}"/>
              </a:ext>
            </a:extLst>
          </p:cNvPr>
          <p:cNvCxnSpPr/>
          <p:nvPr userDrawn="1"/>
        </p:nvCxnSpPr>
        <p:spPr>
          <a:xfrm>
            <a:off x="742949" y="3019425"/>
            <a:ext cx="8420099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그래픽, 폰트, 그래픽 디자인, 텍스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D292716-7F6C-4970-7E0A-46DC9A7A1C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5928" y="5753005"/>
            <a:ext cx="1057828" cy="62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93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B1BBA29-CD36-4E87-A1FC-94187C484C6D}"/>
              </a:ext>
            </a:extLst>
          </p:cNvPr>
          <p:cNvCxnSpPr/>
          <p:nvPr userDrawn="1"/>
        </p:nvCxnSpPr>
        <p:spPr>
          <a:xfrm>
            <a:off x="200024" y="523877"/>
            <a:ext cx="9504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8D8855F-A33B-4721-81C7-7B3BD438E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72388" y="6677025"/>
            <a:ext cx="2228850" cy="177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30D99AEE-D51A-4289-99BC-BD013E26EE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133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36EDD8E-7591-4904-87E2-DED8082EA169}"/>
              </a:ext>
            </a:extLst>
          </p:cNvPr>
          <p:cNvCxnSpPr/>
          <p:nvPr userDrawn="1"/>
        </p:nvCxnSpPr>
        <p:spPr>
          <a:xfrm>
            <a:off x="200024" y="523877"/>
            <a:ext cx="9504000" cy="0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6">
            <a:extLst>
              <a:ext uri="{FF2B5EF4-FFF2-40B4-BE49-F238E27FC236}">
                <a16:creationId xmlns:a16="http://schemas.microsoft.com/office/drawing/2014/main" id="{B9284A84-E309-4034-AE2E-4562C2193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72388" y="6677025"/>
            <a:ext cx="2228850" cy="177802"/>
          </a:xfrm>
        </p:spPr>
        <p:txBody>
          <a:bodyPr/>
          <a:lstStyle/>
          <a:p>
            <a:fld id="{4A6D5F78-744E-4F17-950B-925FD869C55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44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ctrTitle"/>
          </p:nvPr>
        </p:nvSpPr>
        <p:spPr>
          <a:xfrm>
            <a:off x="1033400" y="1943835"/>
            <a:ext cx="8420100" cy="1079232"/>
          </a:xfrm>
          <a:prstGeom prst="rect">
            <a:avLst/>
          </a:prstGeom>
        </p:spPr>
        <p:txBody>
          <a:bodyPr>
            <a:normAutofit/>
          </a:bodyPr>
          <a:lstStyle>
            <a:lvl1pPr algn="l" latinLnBrk="0">
              <a:lnSpc>
                <a:spcPct val="150000"/>
              </a:lnSpc>
              <a:spcAft>
                <a:spcPts val="600"/>
              </a:spcAft>
              <a:defRPr sz="2800" b="1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grpSp>
        <p:nvGrpSpPr>
          <p:cNvPr id="9" name="그룹 7"/>
          <p:cNvGrpSpPr/>
          <p:nvPr userDrawn="1"/>
        </p:nvGrpSpPr>
        <p:grpSpPr>
          <a:xfrm>
            <a:off x="8020052" y="315912"/>
            <a:ext cx="1612900" cy="492126"/>
            <a:chOff x="8020050" y="315912"/>
            <a:chExt cx="1612900" cy="492126"/>
          </a:xfrm>
        </p:grpSpPr>
        <p:sp>
          <p:nvSpPr>
            <p:cNvPr id="10" name="직사각형 9"/>
            <p:cNvSpPr/>
            <p:nvPr/>
          </p:nvSpPr>
          <p:spPr>
            <a:xfrm>
              <a:off x="8020050" y="317500"/>
              <a:ext cx="1612900" cy="488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600" b="1">
                  <a:solidFill>
                    <a:prstClr val="black"/>
                  </a:solidFill>
                  <a:latin typeface="Tahoma" pitchFamily="34" charset="0"/>
                  <a:cs typeface="Tahoma" pitchFamily="34" charset="0"/>
                </a:rPr>
                <a:t>Strictly Confidential</a:t>
              </a:r>
              <a:r>
                <a:rPr kumimoji="0" lang="ko-KR" altLang="en-US" sz="1600" b="1">
                  <a:solidFill>
                    <a:prstClr val="black"/>
                  </a:solidFill>
                  <a:latin typeface="Tahoma" pitchFamily="34" charset="0"/>
                  <a:cs typeface="Tahoma" pitchFamily="34" charset="0"/>
                </a:rPr>
                <a:t> </a:t>
              </a:r>
            </a:p>
          </p:txBody>
        </p:sp>
        <p:cxnSp>
          <p:nvCxnSpPr>
            <p:cNvPr id="11" name="직선 연결선 10"/>
            <p:cNvCxnSpPr/>
            <p:nvPr/>
          </p:nvCxnSpPr>
          <p:spPr>
            <a:xfrm>
              <a:off x="8020050" y="806450"/>
              <a:ext cx="16129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>
            <a:xfrm>
              <a:off x="8020050" y="315912"/>
              <a:ext cx="16129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그림 1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402" y="5092965"/>
            <a:ext cx="1755195" cy="901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514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072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>
            <a:cxnSpLocks/>
          </p:cNvCxnSpPr>
          <p:nvPr userDrawn="1"/>
        </p:nvCxnSpPr>
        <p:spPr>
          <a:xfrm flipH="1">
            <a:off x="0" y="644956"/>
            <a:ext cx="9906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129464" y="6597352"/>
            <a:ext cx="792088" cy="260648"/>
          </a:xfrm>
          <a:prstGeom prst="rect">
            <a:avLst/>
          </a:prstGeom>
        </p:spPr>
        <p:txBody>
          <a:bodyPr/>
          <a:lstStyle>
            <a:lvl1pPr algn="r">
              <a:defRPr sz="900"/>
            </a:lvl1pPr>
          </a:lstStyle>
          <a:p>
            <a:fld id="{EF5576CC-3483-45BA-A8BC-6AAD2972425B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40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페이지 (상단 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>
          <a:xfrm>
            <a:off x="293039" y="620688"/>
            <a:ext cx="9268473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E445A1A-1F61-DCCB-B156-8B8271C7DB81}"/>
              </a:ext>
            </a:extLst>
          </p:cNvPr>
          <p:cNvSpPr txBox="1"/>
          <p:nvPr userDrawn="1"/>
        </p:nvSpPr>
        <p:spPr>
          <a:xfrm>
            <a:off x="9401452" y="6631409"/>
            <a:ext cx="504548" cy="226591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r"/>
            <a:fld id="{277B5067-7062-44A7-80A0-9152EDAE4DE2}" type="slidenum">
              <a:rPr lang="ko-KR" altLang="en-US" sz="1000" smtClean="0"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pPr algn="r"/>
              <a:t>‹#›</a:t>
            </a:fld>
            <a:endParaRPr lang="ko-KR" altLang="en-US" sz="1000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223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0025" y="158751"/>
            <a:ext cx="9505950" cy="365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025" y="615949"/>
            <a:ext cx="9505950" cy="5946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4762" y="6677025"/>
            <a:ext cx="2228850" cy="177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677025"/>
            <a:ext cx="3343275" cy="177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1D02DF6-2D5B-4844-9452-3E52C9CAA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72388" y="6677025"/>
            <a:ext cx="2228850" cy="177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99AEE-D51A-4289-99BC-BD013E26EE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96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1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  <p15:guide id="3" pos="126">
          <p15:clr>
            <a:srgbClr val="F26B43"/>
          </p15:clr>
        </p15:guide>
        <p15:guide id="4" pos="6114">
          <p15:clr>
            <a:srgbClr val="F26B43"/>
          </p15:clr>
        </p15:guide>
        <p15:guide id="5" orient="horz" pos="32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D5A3549-5CDF-4FEC-A931-FBCC1C8FE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48" y="2367757"/>
            <a:ext cx="8420100" cy="614363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dirty="0">
                <a:latin typeface="Tahoma" panose="020B0604030504040204" pitchFamily="34" charset="0"/>
                <a:ea typeface="맑은 고딕" panose="020B0503020000020004" pitchFamily="50" charset="-127"/>
              </a:rPr>
              <a:t>AI Master Project 3</a:t>
            </a:r>
            <a:r>
              <a:rPr lang="ko-KR" altLang="en-US" sz="2800" dirty="0">
                <a:latin typeface="Tahoma" panose="020B0604030504040204" pitchFamily="34" charset="0"/>
                <a:ea typeface="맑은 고딕" panose="020B0503020000020004" pitchFamily="50" charset="-127"/>
              </a:rPr>
              <a:t>기</a:t>
            </a:r>
            <a:endParaRPr lang="ko-KR" altLang="en-US" sz="2800" b="0" dirty="0">
              <a:latin typeface="Tahoma" panose="020B060403050404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" name="부제목 4">
            <a:extLst>
              <a:ext uri="{FF2B5EF4-FFF2-40B4-BE49-F238E27FC236}">
                <a16:creationId xmlns:a16="http://schemas.microsoft.com/office/drawing/2014/main" id="{A719AB01-CC62-6FCD-0237-CA9EFACD59AF}"/>
              </a:ext>
            </a:extLst>
          </p:cNvPr>
          <p:cNvSpPr txBox="1">
            <a:spLocks/>
          </p:cNvSpPr>
          <p:nvPr/>
        </p:nvSpPr>
        <p:spPr>
          <a:xfrm>
            <a:off x="2806544" y="4180196"/>
            <a:ext cx="1148510" cy="1066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800" b="1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</a:rPr>
              <a:t>과제명</a:t>
            </a:r>
            <a:r>
              <a:rPr lang="en-US" altLang="ko-KR" sz="1800" b="1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</a:rPr>
              <a:t>: </a:t>
            </a:r>
          </a:p>
          <a:p>
            <a:pPr marL="0" marR="0" lvl="0" indent="0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</a:rPr>
              <a:t>멘티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</a:rPr>
              <a:t>: </a:t>
            </a:r>
          </a:p>
          <a:p>
            <a:pPr marL="0" marR="0" lvl="0" indent="0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</a:rPr>
              <a:t>멘토</a:t>
            </a: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</a:rPr>
              <a:t>: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부제목 6">
            <a:extLst>
              <a:ext uri="{FF2B5EF4-FFF2-40B4-BE49-F238E27FC236}">
                <a16:creationId xmlns:a16="http://schemas.microsoft.com/office/drawing/2014/main" id="{6751FD7C-AEBA-C3FD-0286-762683128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949" y="2982120"/>
            <a:ext cx="8420100" cy="614363"/>
          </a:xfrm>
        </p:spPr>
        <p:txBody>
          <a:bodyPr>
            <a:normAutofit/>
          </a:bodyPr>
          <a:lstStyle/>
          <a:p>
            <a:pPr algn="ctr"/>
            <a:r>
              <a:rPr lang="ko-KR" altLang="en-US" sz="2400" dirty="0"/>
              <a:t>최종 발표</a:t>
            </a:r>
          </a:p>
        </p:txBody>
      </p:sp>
      <p:sp>
        <p:nvSpPr>
          <p:cNvPr id="9" name="부제목 4">
            <a:extLst>
              <a:ext uri="{FF2B5EF4-FFF2-40B4-BE49-F238E27FC236}">
                <a16:creationId xmlns:a16="http://schemas.microsoft.com/office/drawing/2014/main" id="{113B7C15-7B13-4CA2-34E7-8116D4E9AADD}"/>
              </a:ext>
            </a:extLst>
          </p:cNvPr>
          <p:cNvSpPr txBox="1">
            <a:spLocks/>
          </p:cNvSpPr>
          <p:nvPr/>
        </p:nvSpPr>
        <p:spPr>
          <a:xfrm>
            <a:off x="3955053" y="4180196"/>
            <a:ext cx="5673689" cy="1066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800" dirty="0">
                <a:latin typeface="Tahoma" panose="020B0604030504040204" pitchFamily="34" charset="0"/>
                <a:ea typeface="맑은 고딕" panose="020B0503020000020004" pitchFamily="50" charset="-127"/>
              </a:rPr>
              <a:t>캐시</a:t>
            </a:r>
            <a:r>
              <a:rPr lang="en-US" altLang="ko-KR" sz="1800" dirty="0">
                <a:latin typeface="Tahoma" panose="020B060403050404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800" dirty="0" err="1">
                <a:latin typeface="Tahoma" panose="020B0604030504040204" pitchFamily="34" charset="0"/>
                <a:ea typeface="맑은 고딕" panose="020B0503020000020004" pitchFamily="50" charset="-127"/>
              </a:rPr>
              <a:t>임베딩</a:t>
            </a:r>
            <a:r>
              <a:rPr lang="ko-KR" altLang="en-US" sz="1800" dirty="0">
                <a:latin typeface="Tahoma" panose="020B0604030504040204" pitchFamily="34" charset="0"/>
                <a:ea typeface="맑은 고딕" panose="020B0503020000020004" pitchFamily="50" charset="-127"/>
              </a:rPr>
              <a:t> 기반 </a:t>
            </a:r>
            <a:r>
              <a:rPr lang="en-US" altLang="ko-KR" sz="1800" dirty="0">
                <a:latin typeface="Tahoma" panose="020B0604030504040204" pitchFamily="34" charset="0"/>
                <a:ea typeface="맑은 고딕" panose="020B0503020000020004" pitchFamily="50" charset="-127"/>
              </a:rPr>
              <a:t>SQL </a:t>
            </a:r>
            <a:r>
              <a:rPr lang="ko-KR" altLang="en-US" sz="1800" dirty="0">
                <a:latin typeface="Tahoma" panose="020B0604030504040204" pitchFamily="34" charset="0"/>
                <a:ea typeface="맑은 고딕" panose="020B0503020000020004" pitchFamily="50" charset="-127"/>
              </a:rPr>
              <a:t>재사용 </a:t>
            </a:r>
            <a:r>
              <a:rPr lang="en-US" altLang="ko-KR" sz="1800" dirty="0">
                <a:latin typeface="Tahoma" panose="020B0604030504040204" pitchFamily="34" charset="0"/>
                <a:ea typeface="맑은 고딕" panose="020B0503020000020004" pitchFamily="50" charset="-127"/>
              </a:rPr>
              <a:t>Text2SQL Agent</a:t>
            </a:r>
          </a:p>
          <a:p>
            <a:pPr marL="0" marR="0" lvl="0" indent="0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800" dirty="0" err="1">
                <a:latin typeface="Tahoma" panose="020B0604030504040204" pitchFamily="34" charset="0"/>
                <a:ea typeface="맑은 고딕" panose="020B0503020000020004" pitchFamily="50" charset="-127"/>
              </a:rPr>
              <a:t>심재규</a:t>
            </a:r>
            <a:r>
              <a:rPr lang="en-US" altLang="ko-KR" sz="1800" dirty="0">
                <a:latin typeface="Tahoma" panose="020B0604030504040204" pitchFamily="34" charset="0"/>
                <a:ea typeface="맑은 고딕" panose="020B0503020000020004" pitchFamily="50" charset="-127"/>
              </a:rPr>
              <a:t>, 10370</a:t>
            </a:r>
            <a:r>
              <a:rPr lang="ko-KR" altLang="en-US" sz="1800" dirty="0">
                <a:latin typeface="Tahoma" panose="020B0604030504040204" pitchFamily="34" charset="0"/>
                <a:ea typeface="맑은 고딕" panose="020B0503020000020004" pitchFamily="50" charset="-127"/>
              </a:rPr>
              <a:t>     </a:t>
            </a:r>
            <a:endParaRPr lang="en-US" altLang="ko-KR" sz="1800" dirty="0">
              <a:latin typeface="Tahoma" panose="020B0604030504040204" pitchFamily="34" charset="0"/>
              <a:ea typeface="맑은 고딕" panose="020B0503020000020004" pitchFamily="50" charset="-127"/>
            </a:endParaRPr>
          </a:p>
          <a:p>
            <a:pPr marL="0" marR="0" lvl="0" indent="0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8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</a:rPr>
              <a:t>김재혁</a:t>
            </a:r>
            <a:r>
              <a:rPr lang="en-US" altLang="ko-KR" sz="1800" dirty="0">
                <a:latin typeface="Tahoma" panose="020B0604030504040204" pitchFamily="34" charset="0"/>
                <a:ea typeface="맑은 고딕" panose="020B0503020000020004" pitchFamily="50" charset="-127"/>
              </a:rPr>
              <a:t>,</a:t>
            </a:r>
            <a:r>
              <a:rPr lang="ko-KR" altLang="en-US" sz="1800" dirty="0">
                <a:latin typeface="Tahoma" panose="020B060403050404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1800" dirty="0" err="1">
                <a:latin typeface="Tahoma" panose="020B0604030504040204" pitchFamily="34" charset="0"/>
                <a:ea typeface="맑은 고딕" panose="020B0503020000020004" pitchFamily="50" charset="-127"/>
              </a:rPr>
              <a:t>조재경</a:t>
            </a:r>
            <a:endParaRPr kumimoji="0" lang="en-US" altLang="ko-KR" sz="1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ahoma" panose="020B0604030504040204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0348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C76E85D-45D7-57C1-B8A2-2597E8781606}"/>
              </a:ext>
            </a:extLst>
          </p:cNvPr>
          <p:cNvSpPr/>
          <p:nvPr/>
        </p:nvSpPr>
        <p:spPr>
          <a:xfrm>
            <a:off x="5145364" y="1000420"/>
            <a:ext cx="4202927" cy="386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b="1" dirty="0">
                <a:solidFill>
                  <a:srgbClr val="0039A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</a:t>
            </a:r>
            <a:r>
              <a:rPr lang="ko-KR" altLang="en-US" sz="1400" b="1" dirty="0">
                <a:solidFill>
                  <a:srgbClr val="0039A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시스템</a:t>
            </a:r>
            <a:r>
              <a:rPr lang="en-US" altLang="ko-KR" sz="1400" b="1" dirty="0">
                <a:solidFill>
                  <a:srgbClr val="0039A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ko-KR" altLang="en-US" sz="1400" b="1" dirty="0">
                <a:solidFill>
                  <a:srgbClr val="0039A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아키텍처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CA00CC-0CA2-6F3C-C422-C273775B9646}"/>
              </a:ext>
            </a:extLst>
          </p:cNvPr>
          <p:cNvSpPr txBox="1"/>
          <p:nvPr/>
        </p:nvSpPr>
        <p:spPr>
          <a:xfrm>
            <a:off x="305898" y="1000420"/>
            <a:ext cx="4340440" cy="373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400" b="1" dirty="0">
                <a:solidFill>
                  <a:srgbClr val="0039A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1. </a:t>
            </a:r>
            <a:r>
              <a:rPr lang="ko-KR" altLang="en-US" sz="1400" b="1" dirty="0">
                <a:solidFill>
                  <a:srgbClr val="0039A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프로젝트 개요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39AC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31E66-490A-EBB5-426B-C786D8F712E3}"/>
              </a:ext>
            </a:extLst>
          </p:cNvPr>
          <p:cNvSpPr txBox="1"/>
          <p:nvPr/>
        </p:nvSpPr>
        <p:spPr>
          <a:xfrm>
            <a:off x="318710" y="195053"/>
            <a:ext cx="5979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프로젝트 개요 및 시스템 아키텍처 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D545D-AC36-D87D-DB57-EFC51336370F}"/>
              </a:ext>
            </a:extLst>
          </p:cNvPr>
          <p:cNvSpPr txBox="1"/>
          <p:nvPr/>
        </p:nvSpPr>
        <p:spPr>
          <a:xfrm>
            <a:off x="517904" y="1543363"/>
            <a:ext cx="434044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marR="0" lvl="0" indent="-179388" algn="l" defTabSz="4572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비전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(Vision): </a:t>
            </a:r>
            <a:b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</a:b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- SK </a:t>
            </a:r>
            <a:r>
              <a:rPr lang="en-US" altLang="ko-KR" sz="1200" b="1" dirty="0" err="1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Hynx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복잡해지는 공정 관련하여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정해진 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UI 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와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고정적인 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Query 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화면 만으로는 해결 할 수 없는 동적 데이터 분석의 필요성 증대</a:t>
            </a:r>
            <a:endParaRPr lang="en-US" altLang="ko-KR" sz="1200" b="1" dirty="0">
              <a:solidFill>
                <a:prstClr val="black"/>
              </a:solidFill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  <a:p>
            <a:pPr marL="179388" marR="0" lvl="0" indent="-179388" algn="l" defTabSz="4572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핵심 기능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(Core Features): </a:t>
            </a:r>
            <a:b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</a:b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엔지니어 자유 질의에 대한 동적 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SQL 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생성 엔진 개발 및 자동 검증 기반의 안정성 확보</a:t>
            </a:r>
            <a:b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</a:b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- </a:t>
            </a:r>
            <a:r>
              <a:rPr lang="en-US" altLang="ko-KR" sz="1200" b="1" dirty="0" err="1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VectorDB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기반의 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SQL 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재활용을 기반으로 한 성능 향상 및 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LLM </a:t>
            </a:r>
            <a:r>
              <a:rPr lang="ko-KR" altLang="en-US" sz="1200" b="1" dirty="0" err="1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호출량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감소</a:t>
            </a:r>
            <a:endParaRPr lang="en-US" altLang="ko-KR" sz="1200" b="1" dirty="0">
              <a:solidFill>
                <a:prstClr val="black"/>
              </a:solidFill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  <a:p>
            <a:pPr marL="179388" marR="0" lvl="0" indent="-179388" algn="l" defTabSz="457200" rtl="0" eaLnBrk="1" fontAlgn="auto" latinLnBrk="0" hangingPunct="1"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핵심 성과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(Key Achievements): </a:t>
            </a:r>
            <a:b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</a:b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- 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반복 질의의 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60~80% 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가량을 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Query 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재활용으로 처리</a:t>
            </a:r>
            <a:b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</a:b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- LLM </a:t>
            </a:r>
            <a:r>
              <a:rPr lang="ko-KR" altLang="en-US" sz="1200" b="1" dirty="0" err="1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호출감소를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통한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인프라 비용 절감</a:t>
            </a:r>
            <a:b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</a:b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- 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응답속도 향상</a:t>
            </a:r>
            <a:endParaRPr lang="en-US" altLang="ko-KR" sz="1200" b="1" dirty="0">
              <a:solidFill>
                <a:prstClr val="black"/>
              </a:solidFill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7EF5336-B9D2-CEB4-A212-32FBF40B920D}"/>
              </a:ext>
            </a:extLst>
          </p:cNvPr>
          <p:cNvCxnSpPr/>
          <p:nvPr/>
        </p:nvCxnSpPr>
        <p:spPr>
          <a:xfrm>
            <a:off x="460135" y="1607141"/>
            <a:ext cx="0" cy="273337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4FDAEDB-4BB3-BB49-086E-7AC515899438}"/>
              </a:ext>
            </a:extLst>
          </p:cNvPr>
          <p:cNvSpPr txBox="1"/>
          <p:nvPr/>
        </p:nvSpPr>
        <p:spPr>
          <a:xfrm>
            <a:off x="517905" y="4991538"/>
            <a:ext cx="434043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i="1" dirty="0"/>
              <a:t>MAC-SQL + </a:t>
            </a:r>
            <a:r>
              <a:rPr lang="en-US" altLang="ko-KR" sz="1400" b="1" i="1" dirty="0" err="1"/>
              <a:t>VectorDB</a:t>
            </a:r>
            <a:r>
              <a:rPr lang="en-US" altLang="ko-KR" sz="1400" b="1" i="1" dirty="0"/>
              <a:t> </a:t>
            </a:r>
            <a:r>
              <a:rPr lang="ko-KR" altLang="en-US" sz="1400" b="1" i="1" dirty="0"/>
              <a:t>캐시 </a:t>
            </a:r>
            <a:r>
              <a:rPr lang="en-US" altLang="ko-KR" sz="1400" b="1" i="1" dirty="0"/>
              <a:t>+ Guardrail </a:t>
            </a:r>
            <a:r>
              <a:rPr lang="ko-KR" altLang="en-US" sz="1400" b="1" i="1" dirty="0"/>
              <a:t>구조로</a:t>
            </a:r>
            <a:r>
              <a:rPr lang="en-US" altLang="ko-KR" sz="1400" b="1" i="1" dirty="0"/>
              <a:t>, </a:t>
            </a:r>
            <a:r>
              <a:rPr lang="ko-KR" altLang="en-US" sz="1400" b="1" i="1" dirty="0"/>
              <a:t>제조 도메인의 반복 질의를 </a:t>
            </a:r>
            <a:r>
              <a:rPr lang="en-US" altLang="ko-KR" sz="1400" b="1" i="1" dirty="0"/>
              <a:t>GPU </a:t>
            </a:r>
            <a:r>
              <a:rPr lang="ko-KR" altLang="en-US" sz="1400" b="1" i="1" dirty="0"/>
              <a:t>호출을 최소화하고 빠르고 안전하게 처리하는 </a:t>
            </a:r>
            <a:r>
              <a:rPr lang="en-US" altLang="ko-KR" sz="1400" b="1" i="1" dirty="0"/>
              <a:t>MCP-style Deep Reasoning Text2SQL Agent</a:t>
            </a:r>
            <a:r>
              <a:rPr lang="ko-KR" altLang="en-US" sz="1400" b="1" i="1" dirty="0"/>
              <a:t>를 만들었습니다</a:t>
            </a:r>
            <a:r>
              <a:rPr lang="en-US" altLang="ko-KR" sz="1400" b="1" i="1" dirty="0"/>
              <a:t>.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A8868C1-75E6-421D-30CA-9C3087FB88A4}"/>
              </a:ext>
            </a:extLst>
          </p:cNvPr>
          <p:cNvCxnSpPr>
            <a:cxnSpLocks/>
          </p:cNvCxnSpPr>
          <p:nvPr/>
        </p:nvCxnSpPr>
        <p:spPr>
          <a:xfrm>
            <a:off x="5145364" y="1607141"/>
            <a:ext cx="0" cy="94555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946A2924-6168-AFAF-17EE-62730CA3F62A}"/>
              </a:ext>
            </a:extLst>
          </p:cNvPr>
          <p:cNvSpPr/>
          <p:nvPr/>
        </p:nvSpPr>
        <p:spPr bwMode="auto">
          <a:xfrm>
            <a:off x="517904" y="4433245"/>
            <a:ext cx="4220212" cy="312000"/>
          </a:xfrm>
          <a:prstGeom prst="downArrow">
            <a:avLst>
              <a:gd name="adj1" fmla="val 99254"/>
              <a:gd name="adj2" fmla="val 100000"/>
            </a:avLst>
          </a:prstGeom>
          <a:solidFill>
            <a:schemeClr val="accent1">
              <a:lumMod val="20000"/>
              <a:lumOff val="80000"/>
            </a:schemeClr>
          </a:solidFill>
          <a:ln w="6350" algn="ctr">
            <a:noFill/>
            <a:prstDash val="solid"/>
            <a:round/>
            <a:headEnd/>
            <a:tailEnd/>
          </a:ln>
          <a:effectLst/>
        </p:spPr>
        <p:txBody>
          <a:bodyPr wrap="square" lIns="0" tIns="0" rIns="0" bIns="0" rtlCol="0" anchor="ctr" anchorCtr="0"/>
          <a:lstStyle/>
          <a:p>
            <a:pPr marL="0" marR="0" indent="0" algn="ctr" defTabSz="7428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ct val="100000"/>
              <a:buFontTx/>
              <a:buNone/>
              <a:tabLst>
                <a:tab pos="74802" algn="l"/>
                <a:tab pos="2954666" algn="l"/>
              </a:tabLst>
            </a:pPr>
            <a:br>
              <a:rPr lang="en-US" altLang="ko-KR" sz="1400" b="1" dirty="0">
                <a:solidFill>
                  <a:srgbClr val="0039AC"/>
                </a:solidFill>
                <a:latin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ko-KR" sz="1400" b="1" dirty="0">
                <a:solidFill>
                  <a:srgbClr val="0039A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Key Message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692" y="1698549"/>
            <a:ext cx="4535202" cy="2887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22790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448F1-0B70-C135-E0A4-CB807716A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059DBB2-3B59-21A7-ECAD-3FE99CF2FB3B}"/>
              </a:ext>
            </a:extLst>
          </p:cNvPr>
          <p:cNvSpPr/>
          <p:nvPr/>
        </p:nvSpPr>
        <p:spPr>
          <a:xfrm>
            <a:off x="5145364" y="1000420"/>
            <a:ext cx="4202927" cy="386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ko-KR" sz="1400" b="1" dirty="0">
                <a:solidFill>
                  <a:srgbClr val="0039A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</a:t>
            </a:r>
            <a:r>
              <a:rPr lang="ko-KR" altLang="en-US" sz="1400" b="1" dirty="0">
                <a:solidFill>
                  <a:srgbClr val="0039A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시연 실행 </a:t>
            </a:r>
            <a:r>
              <a:rPr lang="en-US" altLang="ko-KR" sz="1400" b="1" dirty="0">
                <a:solidFill>
                  <a:srgbClr val="0039A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(Demo </a:t>
            </a:r>
            <a:r>
              <a:rPr lang="en-US" altLang="ko-KR" sz="1400" b="1" dirty="0" err="1">
                <a:solidFill>
                  <a:srgbClr val="0039A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동영상</a:t>
            </a:r>
            <a:r>
              <a:rPr lang="en-US" altLang="ko-KR" sz="1400" b="1" dirty="0">
                <a:solidFill>
                  <a:srgbClr val="0039A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ko-KR" altLang="en-US" sz="1400" b="1" dirty="0">
              <a:solidFill>
                <a:srgbClr val="0039AC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8C4A26-9942-E9E5-3E64-24688C99DA16}"/>
              </a:ext>
            </a:extLst>
          </p:cNvPr>
          <p:cNvSpPr txBox="1"/>
          <p:nvPr/>
        </p:nvSpPr>
        <p:spPr>
          <a:xfrm>
            <a:off x="305898" y="1000420"/>
            <a:ext cx="4340440" cy="373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400" b="1" dirty="0">
                <a:solidFill>
                  <a:srgbClr val="0039A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3. </a:t>
            </a:r>
            <a:r>
              <a:rPr lang="ko-KR" altLang="en-US" sz="1400" b="1" dirty="0">
                <a:solidFill>
                  <a:srgbClr val="0039A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시연 시나리오 </a:t>
            </a:r>
            <a:r>
              <a:rPr lang="en-US" altLang="ko-KR" sz="1400" b="1" dirty="0">
                <a:solidFill>
                  <a:srgbClr val="0039A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: </a:t>
            </a:r>
            <a:r>
              <a:rPr lang="ko-KR" altLang="en-US" sz="1400" b="1" dirty="0">
                <a:solidFill>
                  <a:srgbClr val="0039A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핵심 기술 과제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39AC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22468E-393D-25B4-58E7-4FCCDDED0527}"/>
              </a:ext>
            </a:extLst>
          </p:cNvPr>
          <p:cNvSpPr txBox="1"/>
          <p:nvPr/>
        </p:nvSpPr>
        <p:spPr>
          <a:xfrm>
            <a:off x="318710" y="195053"/>
            <a:ext cx="5979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시연 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67B36B-8745-40E4-3449-16548B215B72}"/>
              </a:ext>
            </a:extLst>
          </p:cNvPr>
          <p:cNvSpPr txBox="1"/>
          <p:nvPr/>
        </p:nvSpPr>
        <p:spPr>
          <a:xfrm>
            <a:off x="517904" y="1543363"/>
            <a:ext cx="4340440" cy="4388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marR="0" lvl="0" indent="-179388" algn="l" defTabSz="457200" rtl="0" eaLnBrk="1" fontAlgn="auto" latinLnBrk="0" hangingPunct="1">
              <a:lnSpc>
                <a:spcPts val="17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시나리오 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(text2sql-agent)</a:t>
            </a:r>
            <a:b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</a:b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사용자가 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“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총 </a:t>
            </a:r>
            <a:r>
              <a:rPr lang="ko-KR" altLang="en-US" sz="1200" dirty="0" err="1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구매금액이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가장 많은 고객 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5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명은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?＂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라는 질문을 합니다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.</a:t>
            </a:r>
            <a:b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</a:b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Selector, Decomposer, Composer, Refiner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로 이루어진 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agent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는 사용자 질문에 맞는 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SQL Query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를 생성합니다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.</a:t>
            </a:r>
            <a:b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</a:b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그 이후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사용자가 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“2022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년 미국에서 판매된 앨범의 총 개수는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?”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라고 문의 할 경우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, </a:t>
            </a:r>
            <a:r>
              <a:rPr lang="en-US" altLang="ko-KR" sz="1200" dirty="0" err="1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VectorDB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조회 및 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Refiner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를 통하여 기존 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Query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를 재활용하고 빠르게 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Query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를 완성하여 서비스를 제공합니다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.</a:t>
            </a:r>
          </a:p>
          <a:p>
            <a:pPr marL="179388" marR="0" lvl="0" indent="-179388" algn="l" defTabSz="457200" rtl="0" eaLnBrk="1" fontAlgn="auto" latinLnBrk="0" hangingPunct="1">
              <a:lnSpc>
                <a:spcPts val="17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기존 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text2SQL </a:t>
            </a: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시스템은 아래 요소를 만족하지 못함</a:t>
            </a:r>
            <a: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.</a:t>
            </a:r>
            <a:b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</a:b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- LLM </a:t>
            </a:r>
            <a:r>
              <a:rPr lang="ko-KR" altLang="en-US" sz="1200" dirty="0" err="1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호출량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 多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(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매 요청 마다 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SQL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을 새로 생성 해야함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)</a:t>
            </a:r>
            <a:b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</a:b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- LLM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의 호출 시간이 오래 걸림</a:t>
            </a:r>
            <a:b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</a:b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- DB Schema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에 존재하지 않는 요소 불러오기</a:t>
            </a:r>
            <a:endParaRPr lang="en-US" altLang="ko-KR" sz="1200" dirty="0">
              <a:solidFill>
                <a:prstClr val="black"/>
              </a:solidFill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  <a:p>
            <a:pPr marL="179388" marR="0" lvl="0" indent="-179388" algn="l" defTabSz="457200" rtl="0" eaLnBrk="1" fontAlgn="auto" latinLnBrk="0" hangingPunct="1">
              <a:lnSpc>
                <a:spcPts val="17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아래 요소를 개선함</a:t>
            </a:r>
            <a:b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</a:b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- Reuse Agent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튜닝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(Follow up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질의 성공률 극대화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)</a:t>
            </a:r>
            <a:b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</a:b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 follow-up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질의 성공률 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60% -&gt; 80%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이상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증가</a:t>
            </a:r>
            <a:b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</a:b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-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각 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Agent </a:t>
            </a:r>
            <a:r>
              <a:rPr lang="ko-KR" altLang="en-US" sz="1200" dirty="0" err="1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파싱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 방어 </a:t>
            </a:r>
            <a:r>
              <a:rPr lang="ko-KR" altLang="en-US" sz="1200" dirty="0" err="1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로직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 추가</a:t>
            </a:r>
            <a:br>
              <a:rPr lang="en-US" altLang="ko-KR" sz="1200" b="1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</a:b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- DB Schema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상세화 적용을 통한 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Selector Node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의 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hallucination </a:t>
            </a:r>
            <a:r>
              <a:rPr lang="ko-KR" altLang="en-US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현상 감소</a:t>
            </a:r>
            <a:r>
              <a:rPr lang="en-US" altLang="ko-KR" sz="1200" dirty="0">
                <a:solidFill>
                  <a:prstClr val="black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(relation, sample row, description)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05525E7-ECEE-D5C9-AB11-52D05C35B370}"/>
              </a:ext>
            </a:extLst>
          </p:cNvPr>
          <p:cNvCxnSpPr>
            <a:cxnSpLocks/>
          </p:cNvCxnSpPr>
          <p:nvPr/>
        </p:nvCxnSpPr>
        <p:spPr>
          <a:xfrm>
            <a:off x="460135" y="1607141"/>
            <a:ext cx="0" cy="1931512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1532274-804C-2065-4765-D049378503E4}"/>
              </a:ext>
            </a:extLst>
          </p:cNvPr>
          <p:cNvCxnSpPr>
            <a:cxnSpLocks/>
          </p:cNvCxnSpPr>
          <p:nvPr/>
        </p:nvCxnSpPr>
        <p:spPr>
          <a:xfrm>
            <a:off x="5145364" y="1607141"/>
            <a:ext cx="0" cy="94555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847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20" y="725619"/>
            <a:ext cx="4312070" cy="44332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22468E-393D-25B4-58E7-4FCCDDED0527}"/>
              </a:ext>
            </a:extLst>
          </p:cNvPr>
          <p:cNvSpPr txBox="1"/>
          <p:nvPr/>
        </p:nvSpPr>
        <p:spPr>
          <a:xfrm>
            <a:off x="318710" y="195053"/>
            <a:ext cx="5979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rPr>
              <a:t>부록 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768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Tahoma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>
            <a:lumMod val="20000"/>
            <a:lumOff val="80000"/>
          </a:schemeClr>
        </a:solidFill>
        <a:ln w="6350" algn="ctr">
          <a:noFill/>
          <a:prstDash val="solid"/>
          <a:round/>
          <a:headEnd/>
          <a:tailEnd/>
        </a:ln>
        <a:effectLst/>
      </a:spPr>
      <a:bodyPr wrap="square" lIns="0" tIns="0" rIns="0" bIns="0" rtlCol="0" anchor="ctr" anchorCtr="0"/>
      <a:lstStyle>
        <a:defPPr marL="0" marR="0" indent="0" algn="ctr" defTabSz="742858" rtl="0" eaLnBrk="1" fontAlgn="auto" latinLnBrk="0" hangingPunct="1">
          <a:lnSpc>
            <a:spcPct val="120000"/>
          </a:lnSpc>
          <a:spcBef>
            <a:spcPts val="0"/>
          </a:spcBef>
          <a:spcAft>
            <a:spcPts val="600"/>
          </a:spcAft>
          <a:buClr>
            <a:srgbClr val="000000"/>
          </a:buClr>
          <a:buSzPct val="100000"/>
          <a:buFontTx/>
          <a:buNone/>
          <a:tabLst>
            <a:tab pos="74802" algn="l"/>
            <a:tab pos="2954666" algn="l"/>
          </a:tabLst>
          <a:defRPr sz="1100" b="1">
            <a:solidFill>
              <a:prstClr val="black"/>
            </a:solidFill>
            <a:latin typeface="Tahoma" panose="020B0604030504040204" pitchFamily="34" charset="0"/>
            <a:cs typeface="Tahoma" panose="020B0604030504040204" pitchFamily="34" charset="0"/>
          </a:defRPr>
        </a:defPPr>
      </a:lstStyle>
    </a:spDef>
    <a:txDef>
      <a:spPr>
        <a:noFill/>
      </a:spPr>
      <a:bodyPr wrap="square" lIns="36000" tIns="36000" rIns="36000" bIns="36000" anchor="ctr" anchorCtr="0">
        <a:spAutoFit/>
      </a:bodyPr>
      <a:lstStyle>
        <a:defPPr algn="l">
          <a:defRPr sz="10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ae6280-8138-46d6-aa14-96ca23db2174" xsi:nil="true"/>
    <lcf76f155ced4ddcb4097134ff3c332f xmlns="fb034ec7-d6d0-4100-a334-314affd56a1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296DB085C343439C980BCAD4AE6FD5" ma:contentTypeVersion="12" ma:contentTypeDescription="Create a new document." ma:contentTypeScope="" ma:versionID="7e55c016684dd59fbcc51cd7d0355d71">
  <xsd:schema xmlns:xsd="http://www.w3.org/2001/XMLSchema" xmlns:xs="http://www.w3.org/2001/XMLSchema" xmlns:p="http://schemas.microsoft.com/office/2006/metadata/properties" xmlns:ns2="fb034ec7-d6d0-4100-a334-314affd56a18" xmlns:ns3="daae6280-8138-46d6-aa14-96ca23db2174" targetNamespace="http://schemas.microsoft.com/office/2006/metadata/properties" ma:root="true" ma:fieldsID="9dc07ce58bd28dea9552e2220d1ebf6a" ns2:_="" ns3:_="">
    <xsd:import namespace="fb034ec7-d6d0-4100-a334-314affd56a18"/>
    <xsd:import namespace="daae6280-8138-46d6-aa14-96ca23db21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34ec7-d6d0-4100-a334-314affd56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5702a04-5a8d-4e22-8fc9-754da5c845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ae6280-8138-46d6-aa14-96ca23db217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1c4bd7d-e24b-460b-b1d3-95c47ddad329}" ma:internalName="TaxCatchAll" ma:showField="CatchAllData" ma:web="daae6280-8138-46d6-aa14-96ca23db21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6E32F4-CD7D-4A8F-8333-C856DCECB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E3737B-60AC-4525-BFEE-BB0F9DA7DCAE}">
  <ds:schemaRefs>
    <ds:schemaRef ds:uri="fb034ec7-d6d0-4100-a334-314affd56a18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http://schemas.openxmlformats.org/package/2006/metadata/core-properties"/>
    <ds:schemaRef ds:uri="daae6280-8138-46d6-aa14-96ca23db2174"/>
  </ds:schemaRefs>
</ds:datastoreItem>
</file>

<file path=customXml/itemProps3.xml><?xml version="1.0" encoding="utf-8"?>
<ds:datastoreItem xmlns:ds="http://schemas.openxmlformats.org/officeDocument/2006/customXml" ds:itemID="{5562300D-4023-46AF-A179-43671DE9A3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034ec7-d6d0-4100-a334-314affd56a18"/>
    <ds:schemaRef ds:uri="daae6280-8138-46d6-aa14-96ca23db21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100377</TotalTime>
  <Words>358</Words>
  <Application>Microsoft Office PowerPoint</Application>
  <PresentationFormat>A4 용지(210x297mm)</PresentationFormat>
  <Paragraphs>26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Tahoma</vt:lpstr>
      <vt:lpstr>Wingdings</vt:lpstr>
      <vt:lpstr>Office Theme</vt:lpstr>
      <vt:lpstr>AI Master Project 3기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seoyeonk@skcc.com</dc:creator>
  <cp:lastModifiedBy>Jaekyu-Sim</cp:lastModifiedBy>
  <cp:revision>806</cp:revision>
  <cp:lastPrinted>2025-06-23T04:00:42Z</cp:lastPrinted>
  <dcterms:created xsi:type="dcterms:W3CDTF">2023-12-18T05:00:40Z</dcterms:created>
  <dcterms:modified xsi:type="dcterms:W3CDTF">2026-01-22T15:10:44Z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0x010100FD296DB085C343439C980BCAD4AE6FD5</vt:lpwstr>
  </property>
  <property fmtid="{D5CDD505-2E9C-101B-9397-08002B2CF9AE}" pid="3" name="MediaServiceImageTags">
    <vt:lpwstr/>
  </property>
</Properties>
</file>